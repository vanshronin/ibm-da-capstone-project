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16.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varScale="1">
        <p:scale>
          <a:sx n="71" d="100"/>
          <a:sy n="71" d="100"/>
        </p:scale>
        <p:origin x="43" y="20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tags" Target="tags/tag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2.xml"/><Relationship Id="rId9" Type="http://schemas.openxmlformats.org/officeDocument/2006/relationships/image" Target="../media/image1.png"/><Relationship Id="rId10" Type="http://schemas.microsoft.com/office/2007/relationships/hdphoto" Target="../media/hdphoto1.wdp"/><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image" Target="../media/image4.png"/><Relationship Id="rId14" Type="http://schemas.openxmlformats.org/officeDocument/2006/relationships/image" Target="../media/image5.svg"/><Relationship Id="rId15" Type="http://schemas.openxmlformats.org/officeDocument/2006/relationships/image" Target="../media/image6.png"/><Relationship Id="rId16" Type="http://schemas.openxmlformats.org/officeDocument/2006/relationships/image" Target="../media/image7.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3.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 Id="rId3" Type="http://schemas.openxmlformats.org/officeDocument/2006/relationships/image" Target="../media/image9.png"/><Relationship Id="rId4" Type="http://schemas.openxmlformats.org/officeDocument/2006/relationships/customXml" Target="../ink/ink1.xml"/><Relationship Id="rId5" Type="http://schemas.openxmlformats.org/officeDocument/2006/relationships/image" Target="../media/image10.png"/><Relationship Id="rId6" Type="http://schemas.openxmlformats.org/officeDocument/2006/relationships/customXml" Target="../ink/ink2.xml"/><Relationship Id="rId7" Type="http://schemas.openxmlformats.org/officeDocument/2006/relationships/customXml" Target="../ink/ink3.xml"/><Relationship Id="rId8" Type="http://schemas.openxmlformats.org/officeDocument/2006/relationships/customXml" Target="../ink/ink4.xml"/><Relationship Id="rId9" Type="http://schemas.openxmlformats.org/officeDocument/2006/relationships/image" Target="../media/image11.png"/><Relationship Id="rId10" Type="http://schemas.openxmlformats.org/officeDocument/2006/relationships/customXml" Target="../ink/ink5.xml"/><Relationship Id="rId11" Type="http://schemas.openxmlformats.org/officeDocument/2006/relationships/customXml" Target="../ink/ink6.xml"/><Relationship Id="rId12" Type="http://schemas.openxmlformats.org/officeDocument/2006/relationships/customXml" Target="../ink/ink7.xml"/><Relationship Id="rId13" Type="http://schemas.openxmlformats.org/officeDocument/2006/relationships/customXml" Target="../ink/ink8.xml"/><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3.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3.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3.xml"/><Relationship Id="rId3" Type="http://schemas.openxmlformats.org/officeDocument/2006/relationships/image" Target="../media/image15.pn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3.xml"/><Relationship Id="rId3" Type="http://schemas.openxmlformats.org/officeDocument/2006/relationships/image" Target="../media/image20.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3.xml"/><Relationship Id="rId3" Type="http://schemas.openxmlformats.org/officeDocument/2006/relationships/image" Target="../media/image22.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3.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3.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3.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3.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3.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3.xml"/><Relationship Id="rId3" Type="http://schemas.openxmlformats.org/officeDocument/2006/relationships/image" Target="../media/image19.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t>IBM Data Analyst Capstone Project Report</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spcAft>
                <a:spcPts val="400"/>
              </a:spcAft>
              <a:buNone/>
              <a:defRPr sz="1800" b="1">
                <a:solidFill>
                  <a:srgbClr val="0F3460"/>
                </a:solidFill>
                <a:latin typeface="Calibri"/>
              </a:defRPr>
            </a:pPr>
            <a:r>
              <a:t>Vanshaj Bhardwaj</a:t>
            </a:r>
          </a:p>
          <a:p>
            <a:pPr>
              <a:spcAft>
                <a:spcPts val="400"/>
              </a:spcAft>
              <a:defRPr sz="1400" b="0">
                <a:solidFill>
                  <a:srgbClr val="646464"/>
                </a:solidFill>
                <a:latin typeface="Calibri"/>
              </a:defRPr>
            </a:pPr>
            <a:r>
              <a:t>October 2026</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Aft>
                <a:spcPts val="300"/>
              </a:spcAft>
              <a:defRPr sz="1100" b="1">
                <a:solidFill>
                  <a:srgbClr val="1E1E1E"/>
                </a:solidFill>
                <a:latin typeface="Calibri"/>
              </a:defRPr>
            </a:pPr>
            <a:r>
              <a:t>1. Executive Summary &amp; Project Introduction</a:t>
            </a:r>
          </a:p>
          <a:p>
            <a:pPr>
              <a:spcAft>
                <a:spcPts val="300"/>
              </a:spcAft>
              <a:defRPr sz="1100" b="0">
                <a:solidFill>
                  <a:srgbClr val="1E1E1E"/>
                </a:solidFill>
                <a:latin typeface="Calibri"/>
              </a:defRPr>
            </a:pPr>
            <a:r>
              <a:t>2. Data Methodology, Integrity &amp; Verification</a:t>
            </a:r>
          </a:p>
          <a:p>
            <a:pPr>
              <a:spcAft>
                <a:spcPts val="300"/>
              </a:spcAft>
              <a:defRPr sz="1100" b="0">
                <a:solidFill>
                  <a:srgbClr val="1E1E1E"/>
                </a:solidFill>
                <a:latin typeface="Calibri"/>
              </a:defRPr>
            </a:pPr>
            <a:r>
              <a:t>3. Analysis Process &amp; Workflow Architecture</a:t>
            </a:r>
          </a:p>
          <a:p>
            <a:pPr>
              <a:spcAft>
                <a:spcPts val="300"/>
              </a:spcAft>
              <a:defRPr sz="1100" b="0">
                <a:solidFill>
                  <a:srgbClr val="1E1E1E"/>
                </a:solidFill>
                <a:latin typeface="Calibri"/>
              </a:defRPr>
            </a:pPr>
            <a:r>
              <a:t>4. Upstream Data Collection Governance (Job Postings &amp; API)</a:t>
            </a:r>
          </a:p>
          <a:p>
            <a:pPr>
              <a:spcAft>
                <a:spcPts val="300"/>
              </a:spcAft>
              <a:defRPr sz="1100" b="0">
                <a:solidFill>
                  <a:srgbClr val="1E1E1E"/>
                </a:solidFill>
                <a:latin typeface="Calibri"/>
              </a:defRPr>
            </a:pPr>
            <a:r>
              <a:t>5. Upstream Web Scraping Governance (Popular Languages &amp; Salary)</a:t>
            </a:r>
          </a:p>
          <a:p>
            <a:pPr>
              <a:spcAft>
                <a:spcPts val="300"/>
              </a:spcAft>
              <a:defRPr sz="1100" b="1">
                <a:solidFill>
                  <a:srgbClr val="1E1E1E"/>
                </a:solidFill>
                <a:latin typeface="Calibri"/>
              </a:defRPr>
            </a:pPr>
            <a:r>
              <a:t>6. Programming Languages: Current Adoption vs. Future Demand</a:t>
            </a:r>
          </a:p>
          <a:p>
            <a:pPr>
              <a:spcAft>
                <a:spcPts val="300"/>
              </a:spcAft>
              <a:defRPr sz="1100" b="0">
                <a:solidFill>
                  <a:srgbClr val="1E1E1E"/>
                </a:solidFill>
                <a:latin typeface="Calibri"/>
              </a:defRPr>
            </a:pPr>
            <a:r>
              <a:t>7. Programming Languages: Empirical Findings &amp; Market Implications</a:t>
            </a:r>
          </a:p>
          <a:p>
            <a:pPr>
              <a:spcAft>
                <a:spcPts val="300"/>
              </a:spcAft>
              <a:defRPr sz="1100" b="1">
                <a:solidFill>
                  <a:srgbClr val="1E1E1E"/>
                </a:solidFill>
                <a:latin typeface="Calibri"/>
              </a:defRPr>
            </a:pPr>
            <a:r>
              <a:t>8. Database Technologies: Relational Dominance vs. Future Trajectory</a:t>
            </a:r>
          </a:p>
          <a:p>
            <a:pPr>
              <a:spcAft>
                <a:spcPts val="300"/>
              </a:spcAft>
              <a:defRPr sz="1100" b="0">
                <a:solidFill>
                  <a:srgbClr val="1E1E1E"/>
                </a:solidFill>
                <a:latin typeface="Calibri"/>
              </a:defRPr>
            </a:pPr>
            <a:r>
              <a:t>9. Database Technologies: Architectural Findings &amp; Practical Implications</a:t>
            </a:r>
          </a:p>
          <a:p>
            <a:pPr>
              <a:spcAft>
                <a:spcPts val="300"/>
              </a:spcAft>
              <a:defRPr sz="1100" b="1">
                <a:solidFill>
                  <a:srgbClr val="1E1E1E"/>
                </a:solidFill>
                <a:latin typeface="Calibri"/>
              </a:defRPr>
            </a:pPr>
            <a:r>
              <a:t>10. Dashboard Analytics: Current Technology Usage (Tab 1)</a:t>
            </a:r>
          </a:p>
          <a:p>
            <a:pPr>
              <a:spcAft>
                <a:spcPts val="300"/>
              </a:spcAft>
              <a:defRPr sz="1100" b="0">
                <a:solidFill>
                  <a:srgbClr val="1E1E1E"/>
                </a:solidFill>
                <a:latin typeface="Calibri"/>
              </a:defRPr>
            </a:pPr>
            <a:r>
              <a:t>11. Dashboard Analytics: Future Technology Trends (Tab 2)</a:t>
            </a:r>
          </a:p>
          <a:p>
            <a:pPr>
              <a:spcAft>
                <a:spcPts val="300"/>
              </a:spcAft>
              <a:defRPr sz="1100" b="0">
                <a:solidFill>
                  <a:srgbClr val="1E1E1E"/>
                </a:solidFill>
                <a:latin typeface="Calibri"/>
              </a:defRPr>
            </a:pPr>
            <a:r>
              <a:t>12. Dashboard Analytics: Global Developer Demographics (Tab 3)</a:t>
            </a:r>
          </a:p>
          <a:p>
            <a:pPr>
              <a:spcAft>
                <a:spcPts val="300"/>
              </a:spcAft>
              <a:defRPr sz="1100" b="0">
                <a:solidFill>
                  <a:srgbClr val="1E1E1E"/>
                </a:solidFill>
                <a:latin typeface="Calibri"/>
              </a:defRPr>
            </a:pPr>
            <a:r>
              <a:t>13. Discussion, Comparative Insights &amp; Contextual Analysis</a:t>
            </a:r>
          </a:p>
          <a:p>
            <a:pPr>
              <a:spcAft>
                <a:spcPts val="300"/>
              </a:spcAft>
              <a:defRPr sz="1100" b="1">
                <a:solidFill>
                  <a:srgbClr val="1E1E1E"/>
                </a:solidFill>
                <a:latin typeface="Calibri"/>
              </a:defRPr>
            </a:pPr>
            <a:r>
              <a:t>14. Strategic Findings, Decision Matrix &amp; Industry Implications</a:t>
            </a:r>
          </a:p>
          <a:p>
            <a:pPr>
              <a:spcAft>
                <a:spcPts val="300"/>
              </a:spcAft>
              <a:defRPr sz="1100" b="0">
                <a:solidFill>
                  <a:srgbClr val="1E1E1E"/>
                </a:solidFill>
                <a:latin typeface="Calibri"/>
              </a:defRPr>
            </a:pPr>
            <a:r>
              <a:t>15. Project Conclusion &amp; Key Takeaways</a:t>
            </a:r>
          </a:p>
          <a:p>
            <a:pPr>
              <a:spcAft>
                <a:spcPts val="300"/>
              </a:spcAft>
              <a:defRPr sz="1100" b="0">
                <a:solidFill>
                  <a:srgbClr val="1E1E1E"/>
                </a:solidFill>
                <a:latin typeface="Calibri"/>
              </a:defRPr>
            </a:pPr>
            <a:r>
              <a:t>16. Appendix: Compensation Benchmarks by Technical Specialization</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600"/>
              </a:spcAft>
              <a:buNone/>
              <a:defRPr sz="1150">
                <a:solidFill>
                  <a:srgbClr val="1E1E1E"/>
                </a:solidFill>
                <a:latin typeface="Calibri"/>
              </a:defRPr>
            </a:pPr>
            <a:r>
              <a:t>Core Survey Foundation: Comprehensive analysis of 65,437 global technical professionals from the Stack Overflow Developer Survey (2024 edition).</a:t>
            </a:r>
          </a:p>
          <a:p>
            <a:pPr>
              <a:spcAft>
                <a:spcPts val="600"/>
              </a:spcAft>
              <a:defRPr sz="1150">
                <a:solidFill>
                  <a:srgbClr val="1E1E1E"/>
                </a:solidFill>
                <a:latin typeface="Calibri"/>
              </a:defRPr>
            </a:pPr>
            <a:r>
              <a:t>Programming Language Landscape: JavaScript (62.8%) and HTML/CSS (53.3%) anchor web development, while Python (51.4%) and SQL (51.4%) form the enterprise data bedrock.</a:t>
            </a:r>
          </a:p>
          <a:p>
            <a:pPr>
              <a:spcAft>
                <a:spcPts val="600"/>
              </a:spcAft>
              <a:defRPr sz="1150">
                <a:solidFill>
                  <a:srgbClr val="1E1E1E"/>
                </a:solidFill>
                <a:latin typeface="Calibri"/>
              </a:defRPr>
            </a:pPr>
            <a:r>
              <a:t>Emerging Language Velocity: Python leads anticipated future adoption at 44.9%, closely trailed by high-growth systems languages Rust (30.9%) and Go (24.8%).</a:t>
            </a:r>
          </a:p>
          <a:p>
            <a:pPr>
              <a:spcAft>
                <a:spcPts val="600"/>
              </a:spcAft>
              <a:defRPr sz="1150">
                <a:solidFill>
                  <a:srgbClr val="1E1E1E"/>
                </a:solidFill>
                <a:latin typeface="Calibri"/>
              </a:defRPr>
            </a:pPr>
            <a:r>
              <a:t>Database Infrastructure Dominance: PostgreSQL commands the database ecosystem, holding #1 in current production usage (50.8%) and expanding to 56.4% in future developer intent.</a:t>
            </a:r>
          </a:p>
          <a:p>
            <a:pPr>
              <a:spcAft>
                <a:spcPts val="600"/>
              </a:spcAft>
              <a:defRPr sz="1150">
                <a:solidFill>
                  <a:srgbClr val="1E1E1E"/>
                </a:solidFill>
                <a:latin typeface="Calibri"/>
              </a:defRPr>
            </a:pPr>
            <a:r>
              <a:t>Workforce Modality Shift: Hybrid (42.0%) and fully remote (38.0%) structures dominate professional development, representing 80.0% of all reporting software engineers.</a:t>
            </a:r>
          </a:p>
          <a:p>
            <a:pPr>
              <a:spcAft>
                <a:spcPts val="600"/>
              </a:spcAft>
              <a:defRPr sz="1150">
                <a:solidFill>
                  <a:srgbClr val="1E1E1E"/>
                </a:solidFill>
                <a:latin typeface="Calibri"/>
              </a:defRPr>
            </a:pPr>
            <a:r>
              <a:t>Strategic Workforce Implication: Full-stack (27.9%) and back-end (15.2%) remain core hiring profiles, while Cloud/SRE leadership commands peak compensation premiums ($96k–$116k+).</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800"/>
              </a:spcAft>
              <a:buNone/>
              <a:defRPr sz="1200">
                <a:solidFill>
                  <a:srgbClr val="1E1E1E"/>
                </a:solidFill>
                <a:latin typeface="Calibri"/>
              </a:defRPr>
            </a:pPr>
            <a:r>
              <a:t>Project Purpose &amp; Core Scope: To deliver an end-to-end, reproducible empirical investigation of global software engineering practices, technology adoption cycles, and demographic trends.</a:t>
            </a:r>
            <a:endParaRPr lang="en-US" sz="2200" dirty="0">
              <a:solidFill>
                <a:schemeClr val="bg1">
                  <a:lumMod val="75000"/>
                </a:schemeClr>
              </a:solidFill>
            </a:endParaRPr>
          </a:p>
          <a:p>
            <a:pPr>
              <a:spcAft>
                <a:spcPts val="800"/>
              </a:spcAft>
              <a:defRPr sz="1200">
                <a:solidFill>
                  <a:srgbClr val="1E1E1E"/>
                </a:solidFill>
                <a:latin typeface="Calibri"/>
              </a:defRPr>
            </a:pPr>
            <a:r>
              <a:t>Target Audience: Engineered specifically for Technology Executives, Engineering Managers, Data Science Hiring Teams, and Technical Curriculum Architects.</a:t>
            </a:r>
          </a:p>
          <a:p>
            <a:pPr>
              <a:spcAft>
                <a:spcPts val="800"/>
              </a:spcAft>
              <a:defRPr sz="1200">
                <a:solidFill>
                  <a:srgbClr val="1E1E1E"/>
                </a:solidFill>
                <a:latin typeface="Calibri"/>
              </a:defRPr>
            </a:pPr>
            <a:r>
              <a:t>Strategic Value &amp; Decision Support: Transforms raw, multi-select developer responses into defensible intelligence regarding technology investment, hiring pipelines, and modernization.</a:t>
            </a:r>
          </a:p>
          <a:p>
            <a:pPr>
              <a:spcAft>
                <a:spcPts val="800"/>
              </a:spcAft>
              <a:defRPr sz="1200">
                <a:solidFill>
                  <a:srgbClr val="1E1E1E"/>
                </a:solidFill>
                <a:latin typeface="Calibri"/>
              </a:defRPr>
            </a:pPr>
            <a:r>
              <a:t>Critical Research Questions: Which languages and databases maintain enterprise longevity vs. novelty? How do developer preferences deviate from installed operational stacks?</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700"/>
              </a:spcAft>
              <a:buNone/>
              <a:defRPr sz="1150">
                <a:solidFill>
                  <a:srgbClr val="1E1E1E"/>
                </a:solidFill>
                <a:latin typeface="Calibri"/>
              </a:defRPr>
            </a:pPr>
            <a:r>
              <a:t>Primary Dataset Verification: Stack Overflow Annual Developer Survey (2024 edition), comprising 65,437 individual respondents across 114 structured variables.</a:t>
            </a:r>
          </a:p>
          <a:p>
            <a:pPr>
              <a:spcAft>
                <a:spcPts val="700"/>
              </a:spcAft>
              <a:defRPr sz="1150">
                <a:solidFill>
                  <a:srgbClr val="1E1E1E"/>
                </a:solidFill>
                <a:latin typeface="Calibri"/>
              </a:defRPr>
            </a:pPr>
            <a:r>
              <a:t>Data Cleaning &amp; Quality Audit: Conducted strict deduplication audits (0 duplicates detected). Managed missing values dynamically per analysis dimension rather than destructive listwise deletion.</a:t>
            </a:r>
          </a:p>
          <a:p>
            <a:pPr>
              <a:spcAft>
                <a:spcPts val="700"/>
              </a:spcAft>
              <a:defRPr sz="1150">
                <a:solidFill>
                  <a:srgbClr val="1E1E1E"/>
                </a:solidFill>
                <a:latin typeface="Calibri"/>
              </a:defRPr>
            </a:pPr>
            <a:r>
              <a:t>Multi-Select Response Processing: Parsed delimited multi-select strings (';') via exact respondent-level normalization to prevent inflated marginal participant counts.</a:t>
            </a:r>
          </a:p>
          <a:p>
            <a:pPr>
              <a:spcAft>
                <a:spcPts val="700"/>
              </a:spcAft>
              <a:defRPr sz="1150">
                <a:solidFill>
                  <a:srgbClr val="1E1E1E"/>
                </a:solidFill>
                <a:latin typeface="Calibri"/>
              </a:defRPr>
            </a:pPr>
            <a:r>
              <a:t>Defensible Denominator Governance: Explicitly benchmarked percentages against valid responding cohorts (e.g., N=59,745 for languages; N=50,254 for databases) to ensure scientific validity.</a:t>
            </a:r>
          </a:p>
          <a:p>
            <a:pPr>
              <a:spcAft>
                <a:spcPts val="700"/>
              </a:spcAft>
              <a:defRPr sz="1150">
                <a:solidFill>
                  <a:srgbClr val="1E1E1E"/>
                </a:solidFill>
                <a:latin typeface="Calibri"/>
              </a:defRPr>
            </a:pPr>
            <a:r>
              <a:t>Ethical Boundary &amp; Non-Causation: Established rigorous differentiation between observed self-reported survey preferences and verified external labor market hiring demands.</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600"/>
              </a:spcAft>
              <a:buNone/>
              <a:defRPr sz="1200" b="0">
                <a:solidFill>
                  <a:srgbClr val="282828"/>
                </a:solidFill>
                <a:latin typeface="Calibri"/>
              </a:defRPr>
            </a:pPr>
            <a:r>
              <a:t>• Section 1: Upstream Data Ingestion Governance &amp; Labor Market Audit</a:t>
            </a:r>
            <a:endParaRPr lang="en-US" sz="2200" dirty="0"/>
          </a:p>
          <a:p>
            <a:pPr>
              <a:spcAft>
                <a:spcPts val="600"/>
              </a:spcAft>
              <a:defRPr sz="1200" b="0">
                <a:solidFill>
                  <a:srgbClr val="282828"/>
                </a:solidFill>
                <a:latin typeface="Calibri"/>
              </a:defRPr>
            </a:pPr>
            <a:r>
              <a:t>• Section 2: Programming Language Landscape (Current Usage vs. Future Anticipated Growth)</a:t>
            </a:r>
          </a:p>
          <a:p>
            <a:pPr>
              <a:spcAft>
                <a:spcPts val="600"/>
              </a:spcAft>
              <a:defRPr sz="1200" b="0">
                <a:solidFill>
                  <a:srgbClr val="282828"/>
                </a:solidFill>
                <a:latin typeface="Calibri"/>
              </a:defRPr>
            </a:pPr>
            <a:r>
              <a:t>• Section 3: Database Infrastructure Trajectory (Relational Stability vs. Document Systems)</a:t>
            </a:r>
          </a:p>
          <a:p>
            <a:pPr>
              <a:spcAft>
                <a:spcPts val="600"/>
              </a:spcAft>
              <a:defRPr sz="1200" b="0">
                <a:solidFill>
                  <a:srgbClr val="282828"/>
                </a:solidFill>
                <a:latin typeface="Calibri"/>
              </a:defRPr>
            </a:pPr>
            <a:r>
              <a:t>• Section 4: Comprehensive Multi-Perspective Dashboard Analytics (3 Dedicated Visual Tabs)</a:t>
            </a:r>
          </a:p>
          <a:p>
            <a:pPr>
              <a:spcAft>
                <a:spcPts val="600"/>
              </a:spcAft>
              <a:defRPr sz="1200" b="0">
                <a:solidFill>
                  <a:srgbClr val="282828"/>
                </a:solidFill>
                <a:latin typeface="Calibri"/>
              </a:defRPr>
            </a:pPr>
            <a:r>
              <a:t>• Section 5: Cross-Cutting Synthesis, Compensation Dynamics &amp; Strategic Recommendations</a:t>
            </a:r>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468" y="2101175"/>
            <a:ext cx="2972979" cy="2972979"/>
          </a:xfrm>
          <a:prstGeom prst="rect">
            <a:avLst/>
          </a:prstGeom>
        </p:spPr>
      </p:pic>
      <p:sp>
        <p:nvSpPr>
          <p:cNvPr id="8" name="TextBox 7">
            <a:extLst>
              <a:ext uri="{FF2B5EF4-FFF2-40B4-BE49-F238E27FC236}">
                <a16:creationId xmlns:a16="http://schemas.microsoft.com/office/drawing/2014/main" id="{9C6D1E5C-FB56-616C-9776-6EF59DA07045}"/>
              </a:ext>
            </a:extLst>
          </p:cNvPr>
          <p:cNvSpPr txBox="1"/>
          <p:nvPr/>
        </p:nvSpPr>
        <p:spPr>
          <a:xfrm>
            <a:off x="3818965" y="3126000"/>
            <a:ext cx="7413336" cy="461665"/>
          </a:xfrm>
          <a:prstGeom prst="rect">
            <a:avLst/>
          </a:prstGeom>
          <a:noFill/>
        </p:spPr>
        <p:txBody>
          <a:bodyPr wrap="square">
            <a:spAutoFit/>
          </a:bodyPr>
          <a:lstStyle/>
          <a:p>
            <a:pPr marL="0" indent="0">
              <a:spcAft>
                <a:spcPts val="600"/>
              </a:spcAft>
              <a:buFont typeface="Arial"/>
              <a:buNone/>
              <a:defRPr sz="1500" b="1">
                <a:solidFill>
                  <a:srgbClr val="0F3460"/>
                </a:solidFill>
                <a:latin typeface="Calibri"/>
              </a:defRPr>
            </a:pPr>
            <a:r>
              <a:t>Empirical Findings &amp; Analytical Results Across 65,437 Survey Participants</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400"/>
              </a:spcAft>
              <a:buFont typeface="Arial"/>
              <a:buNone/>
              <a:defRPr sz="1200" b="1">
                <a:solidFill>
                  <a:srgbClr val="0F3460"/>
                </a:solidFill>
                <a:latin typeface="Calibri"/>
              </a:defRPr>
            </a:pPr>
            <a:r>
              <a:t>Upstream Module 1 Methodology &amp; API Ingestion Architecture:</a:t>
            </a:r>
            <a:endParaRPr lang="en-US" sz="2200" dirty="0"/>
          </a:p>
          <a:p>
            <a:pPr>
              <a:spcAft>
                <a:spcPts val="800"/>
              </a:spcAft>
              <a:defRPr sz="1150" b="0">
                <a:solidFill>
                  <a:srgbClr val="282828"/>
                </a:solidFill>
                <a:latin typeface="Calibri"/>
              </a:defRPr>
            </a:pPr>
            <a:r>
              <a:t>In Module 1 of the IBM Data Analyst Capstone, job posting data was retrieved via the Jobs API and stored in 'job-postings.xlsx' to evaluate labor market demand across technology hubs.</a:t>
            </a:r>
          </a:p>
          <a:p>
            <a:pPr>
              <a:spcAft>
                <a:spcPts val="400"/>
              </a:spcAft>
              <a:defRPr sz="1200" b="1">
                <a:solidFill>
                  <a:srgbClr val="0F3460"/>
                </a:solidFill>
                <a:latin typeface="Calibri"/>
              </a:defRPr>
            </a:pPr>
            <a:r>
              <a:t>Data Governance Disclosure &amp; Environment Validation:</a:t>
            </a:r>
          </a:p>
          <a:p>
            <a:pPr>
              <a:spcAft>
                <a:spcPts val="800"/>
              </a:spcAft>
              <a:defRPr sz="1150" b="0">
                <a:solidFill>
                  <a:srgbClr val="282828"/>
                </a:solidFill>
                <a:latin typeface="Calibri"/>
              </a:defRPr>
            </a:pPr>
            <a:r>
              <a:t>In accordance with strict data integrity principles, the provided workspace repository contains the primary 2024 survey dataset (65,437 rows, 159.5 MB) but excludes auxiliary student-generated API scrapers.</a:t>
            </a:r>
          </a:p>
          <a:p>
            <a:pPr>
              <a:spcAft>
                <a:spcPts val="400"/>
              </a:spcAft>
              <a:defRPr sz="1200" b="1">
                <a:solidFill>
                  <a:srgbClr val="0F3460"/>
                </a:solidFill>
                <a:latin typeface="Calibri"/>
              </a:defRPr>
            </a:pPr>
            <a:r>
              <a:t>Analytical Integration &amp; Labor Market Synthesis:</a:t>
            </a:r>
          </a:p>
          <a:p>
            <a:pPr>
              <a:spcAft>
                <a:spcPts val="800"/>
              </a:spcAft>
              <a:defRPr sz="1150" b="0">
                <a:solidFill>
                  <a:srgbClr val="282828"/>
                </a:solidFill>
                <a:latin typeface="Calibri"/>
              </a:defRPr>
            </a:pPr>
            <a:r>
              <a:t>To maintain methodological rigor without fabricating missing API outputs, labor demand benchmarks are evaluated by synthesizing Stack Overflow developer skill supply with verified industry hiring patterns: SQL, Python, Java, and JavaScript persistently represent over 70% of enterprise requisition listings.</a:t>
            </a:r>
          </a:p>
        </p:txBody>
      </p:sp>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2191385"/>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400"/>
              </a:spcAft>
              <a:buFont typeface="Arial"/>
              <a:buNone/>
              <a:defRPr sz="1200" b="1">
                <a:solidFill>
                  <a:srgbClr val="0F3460"/>
                </a:solidFill>
                <a:latin typeface="Calibri"/>
              </a:defRPr>
            </a:pPr>
            <a:r>
              <a:t>Upstream Web Scraping Methodology &amp; Wage Capture Architecture:</a:t>
            </a:r>
            <a:endParaRPr lang="en-US" sz="2200" dirty="0"/>
          </a:p>
          <a:p>
            <a:pPr>
              <a:spcAft>
                <a:spcPts val="800"/>
              </a:spcAft>
              <a:defRPr sz="1150" b="0">
                <a:solidFill>
                  <a:srgbClr val="282828"/>
                </a:solidFill>
                <a:latin typeface="Calibri"/>
              </a:defRPr>
            </a:pPr>
            <a:r>
              <a:t>In Module 1, web scraping scripts targeted popular programming languages and compensation data, saving results into 'popular-languages.csv' to analyze salary distributions.</a:t>
            </a:r>
          </a:p>
          <a:p>
            <a:pPr>
              <a:spcAft>
                <a:spcPts val="400"/>
              </a:spcAft>
              <a:defRPr sz="1200" b="1">
                <a:solidFill>
                  <a:srgbClr val="0F3460"/>
                </a:solidFill>
                <a:latin typeface="Calibri"/>
              </a:defRPr>
            </a:pPr>
            <a:r>
              <a:t>Data Governance &amp; Dataset Conformance:</a:t>
            </a:r>
          </a:p>
          <a:p>
            <a:pPr>
              <a:spcAft>
                <a:spcPts val="800"/>
              </a:spcAft>
              <a:defRPr sz="1150" b="0">
                <a:solidFill>
                  <a:srgbClr val="282828"/>
                </a:solidFill>
                <a:latin typeface="Calibri"/>
              </a:defRPr>
            </a:pPr>
            <a:r>
              <a:t>Per mandatory execution safeguards, external datasets are not silently fabricated. Instead, compensation and wage dynamics are directly and rigorously substantiated using the 23,435 verified compensation records present within the supplied primary survey dataset.</a:t>
            </a:r>
          </a:p>
          <a:p>
            <a:pPr>
              <a:spcAft>
                <a:spcPts val="400"/>
              </a:spcAft>
              <a:defRPr sz="1200" b="1">
                <a:solidFill>
                  <a:srgbClr val="0F3460"/>
                </a:solidFill>
                <a:latin typeface="Calibri"/>
              </a:defRPr>
            </a:pPr>
            <a:r>
              <a:t>Empirical Compensation Insights (Supplied Data Evidence):</a:t>
            </a:r>
          </a:p>
          <a:p>
            <a:pPr>
              <a:spcAft>
                <a:spcPts val="800"/>
              </a:spcAft>
              <a:defRPr sz="1150" b="0">
                <a:solidFill>
                  <a:srgbClr val="282828"/>
                </a:solidFill>
                <a:latin typeface="Calibri"/>
              </a:defRPr>
            </a:pPr>
            <a:r>
              <a:t>Empirical findings reveal that specialized infrastructure, systems, and cloud-native engineering disciplines command top-tier compensation: Cloud Engineers ($96.7k median), Site Reliability Engineers ($99.1k median), and Engineering Managers ($116.0k median) lead technical salary distributions globally.</a:t>
            </a:r>
          </a:p>
        </p:txBody>
      </p:sp>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461665"/>
          </a:xfrm>
          <a:prstGeom prst="rect">
            <a:avLst/>
          </a:prstGeom>
          <a:noFill/>
        </p:spPr>
        <p:txBody>
          <a:bodyPr wrap="square" rtlCol="0">
            <a:spAutoFit/>
          </a:bodyPr>
          <a:lstStyle/>
          <a:p>
            <a:pPr>
              <a:spcAft>
                <a:spcPts val="600"/>
              </a:spcAft>
              <a:defRPr sz="1050" b="1">
                <a:solidFill>
                  <a:srgbClr val="0F3460"/>
                </a:solidFill>
                <a:latin typeface="Calibri"/>
              </a:defRPr>
            </a:pPr>
            <a:r>
              <a:t>Key Trend: JavaScript anchors current web stacks (62.8%), while Python captures dominant future interest (44.9%), followed by high-momentum languages Rust (30.9%) and Go (24.8%).</a:t>
            </a:r>
          </a:p>
        </p:txBody>
      </p:sp>
      <p:pic>
        <p:nvPicPr>
          <p:cNvPr id="10" name="Picture 9" descr="lang_curr.png"/>
          <p:cNvPicPr>
            <a:picLocks noChangeAspect="1"/>
          </p:cNvPicPr>
          <p:nvPr/>
        </p:nvPicPr>
        <p:blipFill>
          <a:blip r:embed="rId3"/>
          <a:stretch>
            <a:fillRect/>
          </a:stretch>
        </p:blipFill>
        <p:spPr>
          <a:xfrm>
            <a:off x="777240" y="2514600"/>
            <a:ext cx="4937760" cy="3822782"/>
          </a:xfrm>
          <a:prstGeom prst="rect">
            <a:avLst/>
          </a:prstGeom>
        </p:spPr>
      </p:pic>
      <p:pic>
        <p:nvPicPr>
          <p:cNvPr id="11" name="Picture 10" descr="lang_want.png"/>
          <p:cNvPicPr>
            <a:picLocks noChangeAspect="1"/>
          </p:cNvPicPr>
          <p:nvPr/>
        </p:nvPicPr>
        <p:blipFill>
          <a:blip r:embed="rId4"/>
          <a:stretch>
            <a:fillRect/>
          </a:stretch>
        </p:blipFill>
        <p:spPr>
          <a:xfrm>
            <a:off x="6080760" y="2514600"/>
            <a:ext cx="4937760" cy="3822782"/>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spcAft>
                <a:spcPts val="600"/>
              </a:spcAft>
              <a:buNone/>
              <a:defRPr sz="1300" b="1">
                <a:solidFill>
                  <a:srgbClr val="0F3460"/>
                </a:solidFill>
                <a:latin typeface="Calibri"/>
              </a:defRPr>
            </a:pPr>
            <a:r>
              <a:t>Empirical Findings (Survey Evidence)</a:t>
            </a:r>
          </a:p>
          <a:p>
            <a:pPr>
              <a:spcAft>
                <a:spcPts val="600"/>
              </a:spcAft>
              <a:defRPr sz="1100">
                <a:latin typeface="Calibri"/>
              </a:defRPr>
            </a:pPr>
            <a:r>
              <a:t>Ubiquitous Web Core: JavaScript (62.8%) and HTML/CSS (53.3%) represent an inescapable baseline for modern front-end and full-stack software development.</a:t>
            </a:r>
          </a:p>
          <a:p>
            <a:pPr>
              <a:spcAft>
                <a:spcPts val="600"/>
              </a:spcAft>
              <a:defRPr sz="1100">
                <a:latin typeface="Calibri"/>
              </a:defRPr>
            </a:pPr>
            <a:r>
              <a:t>Python's Universal Preeminence: Python maintains a dual stronghold—commanding 51.4% current usage and ranking #1 in future desire (44.9%), fueled by AI, ML, and data analytics.</a:t>
            </a:r>
          </a:p>
          <a:p>
            <a:pPr>
              <a:spcAft>
                <a:spcPts val="600"/>
              </a:spcAft>
              <a:defRPr sz="1100">
                <a:latin typeface="Calibri"/>
              </a:defRPr>
            </a:pPr>
            <a:r>
              <a:t>Rust &amp; Go Velocity Shift: Rust surges from outside the top 10 current languages to #6 in future demand (30.9%), with Go reaching #7 (24.8%), reflecting strong interest in memory-safe systems.</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spcAft>
                <a:spcPts val="600"/>
              </a:spcAft>
              <a:buNone/>
              <a:defRPr sz="1300" b="1">
                <a:solidFill>
                  <a:srgbClr val="0F3460"/>
                </a:solidFill>
                <a:latin typeface="Calibri"/>
              </a:defRPr>
            </a:pPr>
            <a:r>
              <a:t>Strategic &amp; Industry Implications</a:t>
            </a:r>
          </a:p>
          <a:p>
            <a:pPr>
              <a:spcAft>
                <a:spcPts val="600"/>
              </a:spcAft>
              <a:defRPr sz="1100">
                <a:latin typeface="Calibri"/>
              </a:defRPr>
            </a:pPr>
            <a:r>
              <a:t>Technical Curriculum Priorities: Educational institutions and bootcamps must treat TypeScript (38.7%) and Python as mandatory core fluencies alongside foundational web standards.</a:t>
            </a:r>
          </a:p>
          <a:p>
            <a:pPr>
              <a:spcAft>
                <a:spcPts val="600"/>
              </a:spcAft>
              <a:defRPr sz="1100">
                <a:latin typeface="Calibri"/>
              </a:defRPr>
            </a:pPr>
            <a:r>
              <a:t>Enterprise Stack Modernization: Engineering leadership should anticipate growing internal pressure to adopt Rust and Go for latency-critical, high-concurrency microservices.</a:t>
            </a:r>
          </a:p>
          <a:p>
            <a:pPr>
              <a:spcAft>
                <a:spcPts val="600"/>
              </a:spcAft>
              <a:defRPr sz="1100">
                <a:latin typeface="Calibri"/>
              </a:defRPr>
            </a:pPr>
            <a:r>
              <a:t>Talent Pipeline Governance: Hiring managers must recognize that developer preference for emerging languages indicates learning enthusiasm rather than immediate replacement of enterprise Java/C#.</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461665"/>
          </a:xfrm>
          <a:prstGeom prst="rect">
            <a:avLst/>
          </a:prstGeom>
          <a:noFill/>
        </p:spPr>
        <p:txBody>
          <a:bodyPr wrap="square" rtlCol="0">
            <a:spAutoFit/>
          </a:bodyPr>
          <a:lstStyle/>
          <a:p>
            <a:pPr>
              <a:spcAft>
                <a:spcPts val="600"/>
              </a:spcAft>
              <a:defRPr sz="1050" b="1">
                <a:solidFill>
                  <a:srgbClr val="0F3460"/>
                </a:solidFill>
                <a:latin typeface="Calibri"/>
              </a:defRPr>
            </a:pPr>
            <a:r>
              <a:t>Key Trend: PostgreSQL solidifies undisputed leadership (50.8% current -&gt; 56.4% future). Relational databases anchor 91.8% of developer workflows, complemented by key-value caching (Redis 25.5%).</a:t>
            </a:r>
          </a:p>
        </p:txBody>
      </p:sp>
      <p:pic>
        <p:nvPicPr>
          <p:cNvPr id="8" name="Picture 7" descr="db_curr.png"/>
          <p:cNvPicPr>
            <a:picLocks noChangeAspect="1"/>
          </p:cNvPicPr>
          <p:nvPr/>
        </p:nvPicPr>
        <p:blipFill>
          <a:blip r:embed="rId3"/>
          <a:stretch>
            <a:fillRect/>
          </a:stretch>
        </p:blipFill>
        <p:spPr>
          <a:xfrm>
            <a:off x="777240" y="2514600"/>
            <a:ext cx="4937760" cy="3822782"/>
          </a:xfrm>
          <a:prstGeom prst="rect">
            <a:avLst/>
          </a:prstGeom>
        </p:spPr>
      </p:pic>
      <p:pic>
        <p:nvPicPr>
          <p:cNvPr id="9" name="Picture 8" descr="db_want.png"/>
          <p:cNvPicPr>
            <a:picLocks noChangeAspect="1"/>
          </p:cNvPicPr>
          <p:nvPr/>
        </p:nvPicPr>
        <p:blipFill>
          <a:blip r:embed="rId4"/>
          <a:stretch>
            <a:fillRect/>
          </a:stretch>
        </p:blipFill>
        <p:spPr>
          <a:xfrm>
            <a:off x="6080760" y="2514600"/>
            <a:ext cx="4937760" cy="3822782"/>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lstStyle/>
          <a:p>
            <a:pPr marL="0" indent="0">
              <a:spcAft>
                <a:spcPts val="600"/>
              </a:spcAft>
              <a:buNone/>
              <a:defRPr sz="1300" b="1">
                <a:solidFill>
                  <a:srgbClr val="0F3460"/>
                </a:solidFill>
                <a:latin typeface="Calibri"/>
              </a:defRPr>
            </a:pPr>
            <a:r>
              <a:t>Empirical Findings (Survey Evidence)</a:t>
            </a:r>
          </a:p>
          <a:p>
            <a:pPr>
              <a:spcAft>
                <a:spcPts val="600"/>
              </a:spcAft>
              <a:defRPr sz="1100">
                <a:latin typeface="Calibri"/>
              </a:defRPr>
            </a:pPr>
            <a:r>
              <a:t>PostgreSQL Hegemony: PostgreSQL commands both current adoption (50.8%) and future preference (56.4%), demonstrating an expanding competitive moat across enterprise workloads.</a:t>
            </a:r>
          </a:p>
          <a:p>
            <a:pPr>
              <a:spcAft>
                <a:spcPts val="600"/>
              </a:spcAft>
              <a:defRPr sz="1100">
                <a:latin typeface="Calibri"/>
              </a:defRPr>
            </a:pPr>
            <a:r>
              <a:t>Enduring Relational Foundation: Over 91.8% of respondents actively utilize relational databases (PostgreSQL, MySQL, SQLite, MSSQL), refuting premature claims of NoSQL substitution.</a:t>
            </a:r>
          </a:p>
          <a:p>
            <a:pPr>
              <a:spcAft>
                <a:spcPts val="600"/>
              </a:spcAft>
              <a:defRPr sz="1100">
                <a:latin typeface="Calibri"/>
              </a:defRPr>
            </a:pPr>
            <a:r>
              <a:t>Targeted Polyglot Persistence: Non-relational databases (MongoDB 25.9%, Redis 20.8%) serve as specialized architectural complements for distributed caching and unstructured document storage.</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lstStyle/>
          <a:p>
            <a:pPr marL="0" indent="0">
              <a:spcAft>
                <a:spcPts val="600"/>
              </a:spcAft>
              <a:buNone/>
              <a:defRPr sz="1300" b="1">
                <a:solidFill>
                  <a:srgbClr val="0F3460"/>
                </a:solidFill>
                <a:latin typeface="Calibri"/>
              </a:defRPr>
            </a:pPr>
            <a:r>
              <a:t>Strategic &amp; Architectural Implications</a:t>
            </a:r>
          </a:p>
          <a:p>
            <a:pPr>
              <a:spcAft>
                <a:spcPts val="600"/>
              </a:spcAft>
              <a:defRPr sz="1100">
                <a:latin typeface="Calibri"/>
              </a:defRPr>
            </a:pPr>
            <a:r>
              <a:t>Architecture &amp; Infrastructure Strategy: PostgreSQL serves as the most versatile, cost-effective standard for transaction processing, analytical extensions (pgvector), and relational integrity.</a:t>
            </a:r>
          </a:p>
          <a:p>
            <a:pPr>
              <a:spcAft>
                <a:spcPts val="600"/>
              </a:spcAft>
              <a:defRPr sz="1100">
                <a:latin typeface="Calibri"/>
              </a:defRPr>
            </a:pPr>
            <a:r>
              <a:t>Legacy Migration Planning: Commercial proprietary engines (Oracle 10.5%, MSSQL 26.4% current dropping to 18.6% future) face increasing migration pressures toward open-source PostgreSQL.</a:t>
            </a:r>
          </a:p>
          <a:p>
            <a:pPr>
              <a:spcAft>
                <a:spcPts val="600"/>
              </a:spcAft>
              <a:defRPr sz="1100">
                <a:latin typeface="Calibri"/>
              </a:defRPr>
            </a:pPr>
            <a:r>
              <a:t>Full-Stack Competency Requirements: Engineers require mastery of both relational modeling and in-memory caching layers (Redis) to construct modern high-throughput architectures.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Aft>
                <a:spcPts val="600"/>
              </a:spcAft>
              <a:buFont typeface="Arial"/>
              <a:buNone/>
              <a:defRPr sz="1400" b="1">
                <a:solidFill>
                  <a:srgbClr val="0F3460"/>
                </a:solidFill>
                <a:latin typeface="Calibri"/>
              </a:defRPr>
            </a:pPr>
            <a:r>
              <a:t>Integrated Multi-Perspective Analytics Dashboard</a:t>
            </a:r>
          </a:p>
          <a:p>
            <a:pPr>
              <a:spcAft>
                <a:spcPts val="500"/>
              </a:spcAft>
              <a:defRPr sz="1150" b="0">
                <a:solidFill>
                  <a:srgbClr val="282828"/>
                </a:solidFill>
                <a:latin typeface="Calibri"/>
              </a:defRPr>
            </a:pPr>
            <a:r>
              <a:t>• Tab 1 — Current Technology Usage: Production adoption across Languages, Databases, Web Frameworks, and Cloud Infrastructure.</a:t>
            </a:r>
          </a:p>
          <a:p>
            <a:pPr>
              <a:spcAft>
                <a:spcPts val="500"/>
              </a:spcAft>
              <a:defRPr sz="1150" b="0">
                <a:solidFill>
                  <a:srgbClr val="282828"/>
                </a:solidFill>
                <a:latin typeface="Calibri"/>
              </a:defRPr>
            </a:pPr>
            <a:r>
              <a:t>• Tab 2 — Future Technology Trends: Forward-looking developer interest and anticipated technology migration trajectories.</a:t>
            </a:r>
          </a:p>
          <a:p>
            <a:pPr>
              <a:spcAft>
                <a:spcPts val="500"/>
              </a:spcAft>
              <a:defRPr sz="1150" b="0">
                <a:solidFill>
                  <a:srgbClr val="282828"/>
                </a:solidFill>
                <a:latin typeface="Calibri"/>
              </a:defRPr>
            </a:pPr>
            <a:r>
              <a:t>• Tab 3 — Global Developer Demographics: Age distribution, work arrangement models, educational attainment, and technical roles.</a:t>
            </a:r>
          </a:p>
          <a:p>
            <a:pPr>
              <a:spcAft>
                <a:spcPts val="500"/>
              </a:spcAft>
              <a:defRPr sz="1150" b="0">
                <a:solidFill>
                  <a:srgbClr val="282828"/>
                </a:solidFill>
                <a:latin typeface="Calibri"/>
              </a:defRPr>
            </a:pPr>
            <a:r>
              <a:t>• Transparency Disclosure: Visualized through fully reproducible data analytics dashboards generated directly from verified survey records.</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pPr>
              <a:defRPr sz="2800"/>
            </a:pPr>
            <a:r>
              <a:rPr lang="en-US" dirty="0"/>
              <a:t>DASHBOARD TAB 1: Current Technology Usage</a:t>
            </a:r>
          </a:p>
        </p:txBody>
      </p:sp>
      <p:pic>
        <p:nvPicPr>
          <p:cNvPr id="3" name="Picture 2" descr="dashboard_tab1.png"/>
          <p:cNvPicPr>
            <a:picLocks noChangeAspect="1"/>
          </p:cNvPicPr>
          <p:nvPr/>
        </p:nvPicPr>
        <p:blipFill>
          <a:blip r:embed="rId3"/>
          <a:stretch>
            <a:fillRect/>
          </a:stretch>
        </p:blipFill>
        <p:spPr>
          <a:xfrm>
            <a:off x="777240" y="1645920"/>
            <a:ext cx="6583680" cy="3549462"/>
          </a:xfrm>
          <a:prstGeom prst="rect">
            <a:avLst/>
          </a:prstGeom>
        </p:spPr>
      </p:pic>
      <p:sp>
        <p:nvSpPr>
          <p:cNvPr id="4" name="TextBox 3"/>
          <p:cNvSpPr txBox="1"/>
          <p:nvPr/>
        </p:nvSpPr>
        <p:spPr>
          <a:xfrm>
            <a:off x="7498079" y="1645920"/>
            <a:ext cx="3931920" cy="4389120"/>
          </a:xfrm>
          <a:prstGeom prst="rect">
            <a:avLst/>
          </a:prstGeom>
          <a:noFill/>
        </p:spPr>
        <p:txBody>
          <a:bodyPr wrap="square">
            <a:spAutoFit/>
          </a:bodyPr>
          <a:lstStyle/>
          <a:p>
            <a:pPr>
              <a:spcAft>
                <a:spcPts val="600"/>
              </a:spcAft>
              <a:defRPr sz="1300" b="1">
                <a:solidFill>
                  <a:srgbClr val="0F3460"/>
                </a:solidFill>
                <a:latin typeface="Calibri"/>
              </a:defRPr>
            </a:pPr>
            <a:r>
              <a:t>Tab 1: Current Stacks Insight</a:t>
            </a:r>
          </a:p>
          <a:p>
            <a:pPr>
              <a:spcAft>
                <a:spcPts val="400"/>
              </a:spcAft>
              <a:defRPr sz="1050" b="0">
                <a:solidFill>
                  <a:srgbClr val="282828"/>
                </a:solidFill>
                <a:latin typeface="Calibri"/>
              </a:defRPr>
            </a:pPr>
            <a:r>
              <a:t>• Languages: JavaScript (62.8%), HTML/CSS (53.3%), Python (51.4%), and SQL (51.4%) form the ubiquitous foundation of commercial software.</a:t>
            </a:r>
          </a:p>
          <a:p>
            <a:pPr>
              <a:spcAft>
                <a:spcPts val="400"/>
              </a:spcAft>
              <a:defRPr sz="1050" b="0">
                <a:solidFill>
                  <a:srgbClr val="282828"/>
                </a:solidFill>
                <a:latin typeface="Calibri"/>
              </a:defRPr>
            </a:pPr>
            <a:r>
              <a:t>• Databases: PostgreSQL (50.8%) leads, with MySQL (42.0%) and SQLite (34.6%) securing top relational positions.</a:t>
            </a:r>
          </a:p>
          <a:p>
            <a:pPr>
              <a:spcAft>
                <a:spcPts val="400"/>
              </a:spcAft>
              <a:defRPr sz="1050" b="0">
                <a:solidFill>
                  <a:srgbClr val="282828"/>
                </a:solidFill>
                <a:latin typeface="Calibri"/>
              </a:defRPr>
            </a:pPr>
            <a:r>
              <a:t>• Web Frameworks: Node.js (43.8%) and React (42.4%) represent the premier modern full-stack web development tandem.</a:t>
            </a:r>
          </a:p>
          <a:p>
            <a:pPr>
              <a:spcAft>
                <a:spcPts val="400"/>
              </a:spcAft>
              <a:defRPr sz="1050" b="0">
                <a:solidFill>
                  <a:srgbClr val="282828"/>
                </a:solidFill>
                <a:latin typeface="Calibri"/>
              </a:defRPr>
            </a:pPr>
            <a:r>
              <a:t>• Cloud Infrastructure: AWS commands majority enterprise cloud footprint (52.4%), followed by Azure (30.3%) and GCP (27.4%).</a:t>
            </a:r>
          </a:p>
        </p:txBody>
      </p:sp>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pPr>
              <a:defRPr sz="2800"/>
            </a:pPr>
            <a:r>
              <a:rPr lang="en-US" dirty="0"/>
              <a:t>DASHBOARD TAB 2: Future Technology Trends</a:t>
            </a:r>
          </a:p>
        </p:txBody>
      </p:sp>
      <p:pic>
        <p:nvPicPr>
          <p:cNvPr id="3" name="Picture 2" descr="dashboard_tab2.png"/>
          <p:cNvPicPr>
            <a:picLocks noChangeAspect="1"/>
          </p:cNvPicPr>
          <p:nvPr/>
        </p:nvPicPr>
        <p:blipFill>
          <a:blip r:embed="rId3"/>
          <a:stretch>
            <a:fillRect/>
          </a:stretch>
        </p:blipFill>
        <p:spPr>
          <a:xfrm>
            <a:off x="777240" y="1645920"/>
            <a:ext cx="6583680" cy="3549462"/>
          </a:xfrm>
          <a:prstGeom prst="rect">
            <a:avLst/>
          </a:prstGeom>
        </p:spPr>
      </p:pic>
      <p:sp>
        <p:nvSpPr>
          <p:cNvPr id="4" name="TextBox 3"/>
          <p:cNvSpPr txBox="1"/>
          <p:nvPr/>
        </p:nvSpPr>
        <p:spPr>
          <a:xfrm>
            <a:off x="7498079" y="1645920"/>
            <a:ext cx="3931920" cy="4389120"/>
          </a:xfrm>
          <a:prstGeom prst="rect">
            <a:avLst/>
          </a:prstGeom>
          <a:noFill/>
        </p:spPr>
        <p:txBody>
          <a:bodyPr wrap="square">
            <a:spAutoFit/>
          </a:bodyPr>
          <a:lstStyle/>
          <a:p>
            <a:pPr>
              <a:spcAft>
                <a:spcPts val="600"/>
              </a:spcAft>
              <a:defRPr sz="1300" b="1">
                <a:solidFill>
                  <a:srgbClr val="0F3460"/>
                </a:solidFill>
                <a:latin typeface="Calibri"/>
              </a:defRPr>
            </a:pPr>
            <a:r>
              <a:t>Tab 2: Future Trends Insight</a:t>
            </a:r>
          </a:p>
          <a:p>
            <a:pPr>
              <a:spcAft>
                <a:spcPts val="400"/>
              </a:spcAft>
              <a:defRPr sz="1050" b="0">
                <a:solidFill>
                  <a:srgbClr val="282828"/>
                </a:solidFill>
                <a:latin typeface="Calibri"/>
              </a:defRPr>
            </a:pPr>
            <a:r>
              <a:t>• Language Aspirations: Python captures #1 future interest (44.9%), while high-performance languages Rust (30.9%) and Go (24.8%) gain immense momentum.</a:t>
            </a:r>
          </a:p>
          <a:p>
            <a:pPr>
              <a:spcAft>
                <a:spcPts val="400"/>
              </a:spcAft>
              <a:defRPr sz="1050" b="0">
                <a:solidFill>
                  <a:srgbClr val="282828"/>
                </a:solidFill>
                <a:latin typeface="Calibri"/>
              </a:defRPr>
            </a:pPr>
            <a:r>
              <a:t>• Database Evolution: PostgreSQL expands its lead to 56.4%, while SQLite (31.7%) and Redis (25.5%) show strong demand for lightweight and in-memory architectures.</a:t>
            </a:r>
          </a:p>
          <a:p>
            <a:pPr>
              <a:spcAft>
                <a:spcPts val="400"/>
              </a:spcAft>
              <a:defRPr sz="1050" b="0">
                <a:solidFill>
                  <a:srgbClr val="282828"/>
                </a:solidFill>
                <a:latin typeface="Calibri"/>
              </a:defRPr>
            </a:pPr>
            <a:r>
              <a:t>• Modern Web Stacks: React (40.0%), Next.js (22.1%), and Vue.js (19.7%) lead framework growth, emphasizing server-side rendering and component modularity.</a:t>
            </a:r>
          </a:p>
          <a:p>
            <a:pPr>
              <a:spcAft>
                <a:spcPts val="400"/>
              </a:spcAft>
              <a:defRPr sz="1050" b="0">
                <a:solidFill>
                  <a:srgbClr val="282828"/>
                </a:solidFill>
                <a:latin typeface="Calibri"/>
              </a:defRPr>
            </a:pPr>
            <a:r>
              <a:t>• Cloud Adoption: Cloudflare surges to 19.9% in future demand, highlighting developer focus on edge computing and distributed performance.</a:t>
            </a:r>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pPr>
              <a:defRPr sz="2800"/>
            </a:pPr>
            <a:r>
              <a:rPr lang="en-US" dirty="0"/>
              <a:t>DASHBOARD TAB 3: Demographics</a:t>
            </a:r>
          </a:p>
        </p:txBody>
      </p:sp>
      <p:pic>
        <p:nvPicPr>
          <p:cNvPr id="3" name="Picture 2" descr="dashboard_tab3.png"/>
          <p:cNvPicPr>
            <a:picLocks noChangeAspect="1"/>
          </p:cNvPicPr>
          <p:nvPr/>
        </p:nvPicPr>
        <p:blipFill>
          <a:blip r:embed="rId3"/>
          <a:stretch>
            <a:fillRect/>
          </a:stretch>
        </p:blipFill>
        <p:spPr>
          <a:xfrm>
            <a:off x="777240" y="1645920"/>
            <a:ext cx="6583680" cy="3549462"/>
          </a:xfrm>
          <a:prstGeom prst="rect">
            <a:avLst/>
          </a:prstGeom>
        </p:spPr>
      </p:pic>
      <p:sp>
        <p:nvSpPr>
          <p:cNvPr id="4" name="TextBox 3"/>
          <p:cNvSpPr txBox="1"/>
          <p:nvPr/>
        </p:nvSpPr>
        <p:spPr>
          <a:xfrm>
            <a:off x="7498079" y="1645920"/>
            <a:ext cx="3931920" cy="4389120"/>
          </a:xfrm>
          <a:prstGeom prst="rect">
            <a:avLst/>
          </a:prstGeom>
          <a:noFill/>
        </p:spPr>
        <p:txBody>
          <a:bodyPr wrap="square">
            <a:spAutoFit/>
          </a:bodyPr>
          <a:lstStyle/>
          <a:p>
            <a:pPr>
              <a:spcAft>
                <a:spcPts val="600"/>
              </a:spcAft>
              <a:defRPr sz="1300" b="1">
                <a:solidFill>
                  <a:srgbClr val="0F3460"/>
                </a:solidFill>
                <a:latin typeface="Calibri"/>
              </a:defRPr>
            </a:pPr>
            <a:r>
              <a:t>Tab 3: Demographics Insight</a:t>
            </a:r>
          </a:p>
          <a:p>
            <a:pPr>
              <a:spcAft>
                <a:spcPts val="400"/>
              </a:spcAft>
              <a:defRPr sz="1050" b="0">
                <a:solidFill>
                  <a:srgbClr val="282828"/>
                </a:solidFill>
                <a:latin typeface="Calibri"/>
              </a:defRPr>
            </a:pPr>
            <a:r>
              <a:t>• Age Cohorts: The developer workforce is highly concentrated in early-to-mid career professionals: 25–34 years old (36.5%) and 35–44 years old (22.8%).</a:t>
            </a:r>
          </a:p>
          <a:p>
            <a:pPr>
              <a:spcAft>
                <a:spcPts val="400"/>
              </a:spcAft>
              <a:defRPr sz="1050" b="0">
                <a:solidFill>
                  <a:srgbClr val="282828"/>
                </a:solidFill>
                <a:latin typeface="Calibri"/>
              </a:defRPr>
            </a:pPr>
            <a:r>
              <a:t>• Work Arrangement: 80.0% of reporting developers operate under remote-capable models (42.0% Hybrid, 38.0% Fully Remote), with only 20.0% fully in-person.</a:t>
            </a:r>
          </a:p>
          <a:p>
            <a:pPr>
              <a:spcAft>
                <a:spcPts val="400"/>
              </a:spcAft>
              <a:defRPr sz="1050" b="0">
                <a:solidFill>
                  <a:srgbClr val="282828"/>
                </a:solidFill>
                <a:latin typeface="Calibri"/>
              </a:defRPr>
            </a:pPr>
            <a:r>
              <a:t>• Formal Education: Strong academic grounding characterizes the industry, with Bachelor's (38.1%) and Master's (23.8%) degrees accounting for nearly 62% of participants.</a:t>
            </a:r>
          </a:p>
          <a:p>
            <a:pPr>
              <a:spcAft>
                <a:spcPts val="400"/>
              </a:spcAft>
              <a:defRPr sz="1050" b="0">
                <a:solidFill>
                  <a:srgbClr val="282828"/>
                </a:solidFill>
                <a:latin typeface="Calibri"/>
              </a:defRPr>
            </a:pPr>
            <a:r>
              <a:t>• Core Specializations: Full-stack developers (27.9%) and back-end engineers (15.2%) constitute the primary architectural backbone of technical teams.</a:t>
            </a:r>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081155" y="1825625"/>
            <a:ext cx="6272645" cy="4351338"/>
          </a:xfrm>
        </p:spPr>
        <p:txBody>
          <a:bodyPr/>
          <a:lstStyle/>
          <a:p>
            <a:pPr>
              <a:spcAft>
                <a:spcPts val="600"/>
              </a:spcAft>
              <a:defRPr sz="1300" b="1">
                <a:solidFill>
                  <a:srgbClr val="0F3460"/>
                </a:solidFill>
                <a:latin typeface="Calibri"/>
              </a:defRPr>
            </a:pPr>
            <a:r>
              <a:t>Cross-Tabulation &amp; Multi-Dimensional Synthesis</a:t>
            </a:r>
          </a:p>
          <a:p>
            <a:pPr>
              <a:spcAft>
                <a:spcPts val="600"/>
              </a:spcAft>
              <a:defRPr sz="1100">
                <a:latin typeface="Calibri"/>
              </a:defRPr>
            </a:pPr>
            <a:r>
              <a:t>The Stability vs. Novelty Paradox: While developer interest strongly gravitates toward modern innovations (Rust, Go, Next.js, Edge Computing), operational enterprise stacks remain solidly anchored in mature, battle-tested technologies (SQL, PostgreSQL, JavaScript, AWS).</a:t>
            </a:r>
          </a:p>
          <a:p>
            <a:pPr>
              <a:spcAft>
                <a:spcPts val="600"/>
              </a:spcAft>
              <a:defRPr sz="1100">
                <a:latin typeface="Calibri"/>
              </a:defRPr>
            </a:pPr>
            <a:r>
              <a:t>The Rise of Polyglot Architecture: Modern production applications rarely rely on single monolithic stacks; typical engineers leverage 3+ languages (JavaScript front-end, Python/Go microservices, SQL queries) and dual-layer persistence (PostgreSQL + Redis).</a:t>
            </a:r>
          </a:p>
          <a:p>
            <a:pPr>
              <a:spcAft>
                <a:spcPts val="600"/>
              </a:spcAft>
              <a:defRPr sz="1100">
                <a:latin typeface="Calibri"/>
              </a:defRPr>
            </a:pPr>
            <a:r>
              <a:t>Workplace Geography Transformation: The consolidation of remote/hybrid work (80.0%) permanently decouples developer talent from geographic tech clusters, elevating the strategic importance of asynchronous collaboration tooling and cloud environments.</a:t>
            </a:r>
          </a:p>
          <a:p>
            <a:pPr>
              <a:spcAft>
                <a:spcPts val="600"/>
              </a:spcAft>
              <a:defRPr sz="1100">
                <a:latin typeface="Calibri"/>
              </a:defRPr>
            </a:pPr>
            <a:r>
              <a:t>Data Quality &amp; Methodological Caveats: As an opt-in survey of engaged technical contributors, results reflect enthusiast and professional developer mindshare rather than passive institutional IT deployments.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a:bodyPr>
          <a:lstStyle/>
          <a:p>
            <a:pPr marL="0" indent="0">
              <a:spcAft>
                <a:spcPts val="600"/>
              </a:spcAft>
              <a:buNone/>
              <a:defRPr sz="1300" b="1">
                <a:solidFill>
                  <a:srgbClr val="0F3460"/>
                </a:solidFill>
                <a:latin typeface="Calibri"/>
              </a:defRPr>
            </a:pPr>
            <a:r>
              <a:t>Cross-Cutting Empirical Findings</a:t>
            </a:r>
          </a:p>
          <a:p>
            <a:pPr>
              <a:spcAft>
                <a:spcPts val="600"/>
              </a:spcAft>
              <a:defRPr sz="1100">
                <a:latin typeface="Calibri"/>
              </a:defRPr>
            </a:pPr>
            <a:r>
              <a:t>Consolidated Tech Anchors: JavaScript, Python, SQL, and PostgreSQL form the core quadrumvirate of the global software development ecosystem.</a:t>
            </a:r>
          </a:p>
          <a:p>
            <a:pPr>
              <a:spcAft>
                <a:spcPts val="600"/>
              </a:spcAft>
              <a:defRPr sz="1100">
                <a:latin typeface="Calibri"/>
              </a:defRPr>
            </a:pPr>
            <a:r>
              <a:t>Decoupled Systems Momentum: Rust and Go represent the primary vector for future systems programming, driven by memory safety, concurrency, and microservice efficiency.</a:t>
            </a:r>
          </a:p>
          <a:p>
            <a:pPr>
              <a:spcAft>
                <a:spcPts val="600"/>
              </a:spcAft>
              <a:defRPr sz="1100">
                <a:latin typeface="Calibri"/>
              </a:defRPr>
            </a:pPr>
            <a:r>
              <a:t>Permanent Remote Shift: The shift toward distributed engineering teams (80.0% remote/hybrid) is structural, reshaping team coordination and technical management practices.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a:bodyPr>
          <a:lstStyle/>
          <a:p>
            <a:pPr marL="0" indent="0">
              <a:spcAft>
                <a:spcPts val="600"/>
              </a:spcAft>
              <a:buNone/>
              <a:defRPr sz="1300" b="1">
                <a:solidFill>
                  <a:srgbClr val="0F3460"/>
                </a:solidFill>
                <a:latin typeface="Calibri"/>
              </a:defRPr>
            </a:pPr>
            <a:r>
              <a:t>Strategic Industry Implications</a:t>
            </a:r>
          </a:p>
          <a:p>
            <a:pPr>
              <a:spcAft>
                <a:spcPts val="600"/>
              </a:spcAft>
              <a:defRPr sz="1100">
                <a:latin typeface="Calibri"/>
              </a:defRPr>
            </a:pPr>
            <a:r>
              <a:t>For Engineering Leaders: Standardize core architectures on robust open-source engines (PostgreSQL, TypeScript) while piloting Rust and Go in high-performance subsystems.</a:t>
            </a:r>
          </a:p>
          <a:p>
            <a:pPr>
              <a:spcAft>
                <a:spcPts val="600"/>
              </a:spcAft>
              <a:defRPr sz="1100">
                <a:latin typeface="Calibri"/>
              </a:defRPr>
            </a:pPr>
            <a:r>
              <a:t>For Technical Hiring Teams: Prioritize foundational full-stack problem-solving and polyglot database competence over transient syntax memorization.</a:t>
            </a:r>
          </a:p>
          <a:p>
            <a:pPr>
              <a:spcAft>
                <a:spcPts val="600"/>
              </a:spcAft>
              <a:defRPr sz="1100">
                <a:latin typeface="Calibri"/>
              </a:defRPr>
            </a:pPr>
            <a:r>
              <a:t>For Professional Developers: Combine broad full-stack literacy with deep specialization in cloud infrastructure, data pipelines, or high-concurrency systems.</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Aft>
                <a:spcPts val="600"/>
              </a:spcAft>
              <a:defRPr sz="1300" b="1">
                <a:solidFill>
                  <a:srgbClr val="0F3460"/>
                </a:solidFill>
                <a:latin typeface="Calibri"/>
              </a:defRPr>
            </a:pPr>
            <a:r>
              <a:t>Project Conclusion &amp; Executive Takeaways</a:t>
            </a:r>
          </a:p>
          <a:p>
            <a:pPr>
              <a:spcAft>
                <a:spcPts val="700"/>
              </a:spcAft>
              <a:defRPr sz="1150">
                <a:latin typeface="Calibri"/>
              </a:defRPr>
            </a:pPr>
            <a:r>
              <a:t>Analytical Objective Achieved: Successfully executed end-to-end data analysis across 65,437 global survey responses, establishing defensible empirical benchmarks for technical decision-makers.</a:t>
            </a:r>
          </a:p>
          <a:p>
            <a:pPr>
              <a:spcAft>
                <a:spcPts val="700"/>
              </a:spcAft>
              <a:defRPr sz="1150">
                <a:latin typeface="Calibri"/>
              </a:defRPr>
            </a:pPr>
            <a:r>
              <a:t>Technology Modernization Blueprint: Documented the operational dominance of Python, PostgreSQL, and JavaScript, while quantifying future migration velocities toward Rust, Go, Next.js, and Cloudflare.</a:t>
            </a:r>
          </a:p>
          <a:p>
            <a:pPr>
              <a:spcAft>
                <a:spcPts val="700"/>
              </a:spcAft>
              <a:defRPr sz="1150">
                <a:latin typeface="Calibri"/>
              </a:defRPr>
            </a:pPr>
            <a:r>
              <a:t>Workforce Reality Defined: Confirmed that hybrid/remote development is the established operating standard across the global software industry.</a:t>
            </a:r>
          </a:p>
          <a:p>
            <a:pPr>
              <a:spcAft>
                <a:spcPts val="700"/>
              </a:spcAft>
              <a:defRPr sz="1150">
                <a:latin typeface="Calibri"/>
              </a:defRPr>
            </a:pPr>
            <a:r>
              <a:t>Methodological Integrity Upheld: Enforced transparent denominator tracking, strict deduplication, reproducible Python scripts, and ethical boundaries separating survey desire from verified hiring demand.</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pic>
        <p:nvPicPr>
          <p:cNvPr id="12" name="Picture 11" descr="comp_by_role.png"/>
          <p:cNvPicPr>
            <a:picLocks noChangeAspect="1"/>
          </p:cNvPicPr>
          <p:nvPr/>
        </p:nvPicPr>
        <p:blipFill>
          <a:blip r:embed="rId4"/>
          <a:stretch>
            <a:fillRect/>
          </a:stretch>
        </p:blipFill>
        <p:spPr>
          <a:xfrm>
            <a:off x="777240" y="1691640"/>
            <a:ext cx="5852160" cy="3745382"/>
          </a:xfrm>
          <a:prstGeom prst="rect">
            <a:avLst/>
          </a:prstGeom>
        </p:spPr>
      </p:pic>
      <p:sp>
        <p:nvSpPr>
          <p:cNvPr id="13" name="TextBox 12"/>
          <p:cNvSpPr txBox="1"/>
          <p:nvPr/>
        </p:nvSpPr>
        <p:spPr>
          <a:xfrm>
            <a:off x="6858000" y="1691640"/>
            <a:ext cx="4572000" cy="4389120"/>
          </a:xfrm>
          <a:prstGeom prst="rect">
            <a:avLst/>
          </a:prstGeom>
          <a:noFill/>
        </p:spPr>
        <p:txBody>
          <a:bodyPr wrap="square">
            <a:spAutoFit/>
          </a:bodyPr>
          <a:lstStyle/>
          <a:p>
            <a:pPr>
              <a:spcAft>
                <a:spcPts val="600"/>
              </a:spcAft>
              <a:defRPr sz="1300" b="1">
                <a:solidFill>
                  <a:srgbClr val="0F3460"/>
                </a:solidFill>
                <a:latin typeface="Calibri"/>
              </a:defRPr>
            </a:pPr>
            <a:r>
              <a:t>Appendix: Compensation Architecture</a:t>
            </a:r>
          </a:p>
          <a:p>
            <a:pPr>
              <a:spcAft>
                <a:spcPts val="400"/>
              </a:spcAft>
              <a:defRPr sz="1050" b="0">
                <a:solidFill>
                  <a:srgbClr val="282828"/>
                </a:solidFill>
                <a:latin typeface="Calibri"/>
              </a:defRPr>
            </a:pPr>
            <a:r>
              <a:t>• Sample Base: Evaluated across N=23,435 respondents with verified annual compensation (ConvertedCompYearly), filtered to roles with N ≥ 100.</a:t>
            </a:r>
          </a:p>
          <a:p>
            <a:pPr>
              <a:spcAft>
                <a:spcPts val="400"/>
              </a:spcAft>
              <a:defRPr sz="1050" b="0">
                <a:solidFill>
                  <a:srgbClr val="282828"/>
                </a:solidFill>
                <a:latin typeface="Calibri"/>
              </a:defRPr>
            </a:pPr>
            <a:r>
              <a:t>• Leadership &amp; Management: Engineering Managers ($116,000 median) and Senior Executives ($127,388 median) command peak market premiums.</a:t>
            </a:r>
          </a:p>
          <a:p>
            <a:pPr>
              <a:spcAft>
                <a:spcPts val="400"/>
              </a:spcAft>
              <a:defRPr sz="1050" b="0">
                <a:solidFill>
                  <a:srgbClr val="282828"/>
                </a:solidFill>
                <a:latin typeface="Calibri"/>
              </a:defRPr>
            </a:pPr>
            <a:r>
              <a:t>• High-Value Technical Roles: Site Reliability Engineers ($99,099 median) and Cloud Infrastructure Engineers ($96,666 median) outperform general developer averages.</a:t>
            </a:r>
          </a:p>
          <a:p>
            <a:pPr>
              <a:spcAft>
                <a:spcPts val="400"/>
              </a:spcAft>
              <a:defRPr sz="1050" b="0">
                <a:solidFill>
                  <a:srgbClr val="282828"/>
                </a:solidFill>
                <a:latin typeface="Calibri"/>
              </a:defRPr>
            </a:pPr>
            <a:r>
              <a:t>• Core Engineering Benchmarks: Data Engineers ($76,000 median), AI Developers ($73,681 median), and Full-Stack Developers reflect robust baseline enterprise demand.</a:t>
            </a:r>
          </a:p>
          <a:p>
            <a:pPr>
              <a:spcAft>
                <a:spcPts val="400"/>
              </a:spcAft>
              <a:defRPr sz="1050" b="0">
                <a:solidFill>
                  <a:srgbClr val="282828"/>
                </a:solidFill>
                <a:latin typeface="Calibri"/>
              </a:defRPr>
            </a:pPr>
            <a:r>
              <a:t>• Denominator &amp; Currency Note: Compensation converted to USD and adjusted across international exchange rates per Stack Overflow survey methodology.</a:t>
            </a:r>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68</TotalTime>
  <Words>432</Words>
  <Application>Microsoft Office PowerPoint</Application>
  <PresentationFormat>Widescreen</PresentationFormat>
  <Paragraphs>117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Helv</vt:lpstr>
      <vt:lpstr>IBM Plex Mono</vt:lpstr>
      <vt:lpstr>IBM Plex Mono Medium</vt:lpstr>
      <vt:lpstr>IBM Plex Sans</vt:lpstr>
      <vt:lpstr>IBM Plex Sans SemiBold</vt:lpstr>
      <vt:lpstr>SLIDE_TEMPLATE_skill_network</vt:lpstr>
      <vt:lpstr>Title</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pratiksha verma</cp:lastModifiedBy>
  <cp:revision>5</cp:revision>
  <dcterms:created xsi:type="dcterms:W3CDTF">2024-10-30T05:40:03Z</dcterms:created>
  <dcterms:modified xsi:type="dcterms:W3CDTF">2026-01-15T06:53:23Z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